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cLKTFwcKihebFnx4_nKISwMEfBTh7WCAJ0a_r0Jgh_5V0BK2E0ubWQkmCOQX1L7WSq125Geq0UfPNDz3bdhF-Ket1iXHPo2sqQXY71raTJcXf3lmYQ4SS5x4NZxTXJ1JCWvchLutOivETI42Y4opyG82ok-AxbLoscRdbBOxxE.jpg"/>
          <p:cNvPicPr>
            <a:picLocks noChangeAspect="1"/>
          </p:cNvPicPr>
          <p:nvPr/>
        </p:nvPicPr>
        <p:blipFill>
          <a:blip r:embed="rId2"/>
          <a:srcRect l="20756" r="20756"/>
          <a:stretch>
            <a:fillRect/>
          </a:stretch>
        </p:blipFill>
        <p:spPr>
          <a:xfrm>
            <a:off x="6172200" y="0"/>
            <a:ext cx="6016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FCDDC"/>
                </a:solidFill>
                <a:latin typeface="Aptos"/>
              </a:rPr>
              <a:t>INDUSTRY 4.0 •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0352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FAFD"/>
                </a:solidFill>
                <a:latin typeface="Aptos"/>
              </a:rPr>
              <a:t>AI-POWERED
SMART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51206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1C0D3"/>
                </a:solidFill>
                <a:latin typeface="Aptos"/>
              </a:rPr>
              <a:t>A connected approach to machine reliability, product quality and production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417320" cy="41148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05663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8FAFD"/>
                </a:solidFill>
                <a:latin typeface="Aptos"/>
              </a:rPr>
              <a:t>PREDICT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4983480"/>
            <a:ext cx="1417320" cy="41148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505663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8FAFD"/>
                </a:solidFill>
                <a:latin typeface="Aptos"/>
              </a:rPr>
              <a:t>INSPECT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983480"/>
            <a:ext cx="1417320" cy="41148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2" y="505663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8FAFD"/>
                </a:solidFill>
                <a:latin typeface="Aptos"/>
              </a:rP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1C0D3"/>
                </a:solidFill>
                <a:latin typeface="Aptos"/>
              </a:rPr>
              <a:t>AI / ML • Industrial IoT • 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212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3FCDDC"/>
                </a:solidFill>
                <a:latin typeface="Aptos"/>
              </a:rPr>
              <a:t>GROUP NUMBER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03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Presented by: Pranav • Piyush • Prashant • Nishita • Rishika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01 • PROBLEM &amp;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Three operational problems, one AI-enabled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1874519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EE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1874519"/>
          </a:xfrm>
          <a:prstGeom prst="rect">
            <a:avLst/>
          </a:prstGeom>
          <a:solidFill>
            <a:srgbClr val="EE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1546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Machine breakdowns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154679" cy="125272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Unexpected failures and downtime</a:t>
            </a:r>
          </a:p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Reactive, costly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3474720" cy="1874519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00200"/>
            <a:ext cx="54864" cy="1874519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546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Product defects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154679" cy="125272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Manual inspection can miss defects</a:t>
            </a:r>
          </a:p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Scrap, rework and customer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600200"/>
            <a:ext cx="3474720" cy="1874519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30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600200"/>
            <a:ext cx="54864" cy="1874519"/>
          </a:xfrm>
          <a:prstGeom prst="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5" y="1719072"/>
            <a:ext cx="31546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Poor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5" y="2130552"/>
            <a:ext cx="3154679" cy="125272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Idle machines and bottlenecks</a:t>
            </a:r>
          </a:p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Material, worker and order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FCDDC"/>
                </a:solidFill>
                <a:latin typeface="Aptos"/>
              </a:rPr>
              <a:t>PROPOSED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526280"/>
            <a:ext cx="2926080" cy="73152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709160"/>
            <a:ext cx="277977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Sensors + cameras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4892040"/>
            <a:ext cx="731519" cy="0"/>
          </a:xfrm>
          <a:prstGeom prst="line">
            <a:avLst/>
          </a:prstGeom>
          <a:ln w="25400">
            <a:solidFill>
              <a:srgbClr val="3F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92040" y="4526280"/>
            <a:ext cx="2926080" cy="73152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4709160"/>
            <a:ext cx="277977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AI / ML engine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4892040"/>
            <a:ext cx="731519" cy="0"/>
          </a:xfrm>
          <a:prstGeom prst="line">
            <a:avLst/>
          </a:prstGeom>
          <a:ln w="25400">
            <a:solidFill>
              <a:srgbClr val="3F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4526280"/>
            <a:ext cx="2926080" cy="7315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5672" y="4709160"/>
            <a:ext cx="277977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Predictions +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FCDDC"/>
                </a:solidFill>
                <a:latin typeface="Aptos"/>
              </a:rPr>
              <a:t>Outcome: less downtime • better quality • higher productivity • lower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02 •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Predictive maintenance: detect failures before they happen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b_D-fEWbQb-bG78BmAESNvAhSREQRblwgqxZEHMzvgtHL2TtsS_IJHqlLEm6l9l2TGwMNeHmDuatPCpHxxLegqLAYz99qbhzIIZXm4rdWOvYo3_X1kS34bOVsyhG_aGgwD4HJtBaLxqkiogr2k8RHn2robrK-J7EsQYvz0WXLUg.jpg"/>
          <p:cNvPicPr>
            <a:picLocks noChangeAspect="1"/>
          </p:cNvPicPr>
          <p:nvPr/>
        </p:nvPicPr>
        <p:blipFill>
          <a:blip r:embed="rId2"/>
          <a:srcRect l="15308" r="15308"/>
          <a:stretch>
            <a:fillRect/>
          </a:stretch>
        </p:blipFill>
        <p:spPr>
          <a:xfrm>
            <a:off x="6172200" y="1554480"/>
            <a:ext cx="53035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From reactive repair to condition-based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92040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t>•  Monitor temperature, vibration, pressure, motor current and operating hours.</a:t>
            </a:r>
          </a:p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t>•  Use anomaly detection to identify unusual machine behaviour.</a:t>
            </a:r>
          </a:p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t>•  Alert maintenance teams when failure risk rises.</a:t>
            </a:r>
          </a:p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t>•  Edge AI can support rapid, local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Example: rising motor vibration triggers a service alert before a likely breakdown.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03 •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Computer vision: inspect products consistently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cAkMMZNnFNNwBvcjsSrYUB8fuqsBwoGqEUa2vAvXYMv6pW0hdT_e6LX1pUsKDORIzb5viiOtpofYFpgdSDxut0oN_e2kT3r93awArSbFi-GGcNqe_FvbRhYTM4h3lM-MH-TLLtvKFAzkccnmyFqxrcOvzrS8WdI-FacqZzF8yiM.jpg"/>
          <p:cNvPicPr>
            <a:picLocks noChangeAspect="1"/>
          </p:cNvPicPr>
          <p:nvPr/>
        </p:nvPicPr>
        <p:blipFill>
          <a:blip r:embed="rId2"/>
          <a:srcRect l="4854" r="4854"/>
          <a:stretch>
            <a:fillRect/>
          </a:stretch>
        </p:blipFill>
        <p:spPr>
          <a:xfrm>
            <a:off x="685800" y="1600200"/>
            <a:ext cx="548640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AI-assisted visual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31720"/>
            <a:ext cx="4709160" cy="2834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Cameras capture products moving along the line.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Supervised models learn from labelled good and defective examples.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CNNs detect scratches, cracks, wrong dimensions, missing parts and assembly errors.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Flag or reject suspect items; keep human review for uncertain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5486400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Expected benefit: fewer defects escape inspection.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04 •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Smart production scheduling: optimize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6b1rnrpMDyVsiOSzwmpftQzwp2OmY57ZiusmynTAttWxrSQkq8_xwuhXaKkIqbuc3-CPWpCaUMT5Kv8EJir1XOcEq6RcAHi61-9rdPYTEPvyR5s7ots5uwFJruheyqSKbCExpf17uzG4WFXsLqWHafVZpAHJRdfvX7f9k5rRaH8.jpg"/>
          <p:cNvPicPr>
            <a:picLocks noChangeAspect="1"/>
          </p:cNvPicPr>
          <p:nvPr/>
        </p:nvPicPr>
        <p:blipFill>
          <a:blip r:embed="rId2"/>
          <a:srcRect l="15018" r="15018"/>
          <a:stretch>
            <a:fillRect/>
          </a:stretch>
        </p:blipFill>
        <p:spPr>
          <a:xfrm>
            <a:off x="685800" y="1600200"/>
            <a:ext cx="55778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Plan dynamically as conditions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17720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Combine customer orders, machine availability, raw materials, workers and capacity.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Optimize schedules to reduce idle time and bottlenecks.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Shift jobs when a machine needs maintenance.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Methods: Hill Climbing, Simulated Annealing, State Space Search and Agentic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486400"/>
            <a:ext cx="4663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Example: move work from Machine A to Machine B during servicing.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05 • TECHNOLOGY &amp;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AI methods and industry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205740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30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2057400"/>
          </a:xfrm>
          <a:prstGeom prst="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Predictive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200400" cy="14356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Unsupervised anomaly detection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Industrial IoT + Edge AI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Fuzzy / probabilistic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205740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21B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54864" cy="2057400"/>
          </a:xfrm>
          <a:prstGeom prst="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1907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Quality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0552"/>
            <a:ext cx="3200400" cy="14356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Supervised classification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Deep learning and CNNs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520440" cy="205740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54864" cy="20574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71907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30552"/>
            <a:ext cx="3200400" cy="14356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Optimization algorithms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State-space search and Agentic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FCDDC"/>
                </a:solidFill>
                <a:latin typeface="Aptos"/>
              </a:rPr>
              <a:t>INDUSTRY EXAMPLES REFERENCED IN THE SOURCE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3520440" cy="132588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30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389120"/>
            <a:ext cx="54864" cy="1325880"/>
          </a:xfrm>
          <a:prstGeom prst="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0799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Tata Steel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19472"/>
            <a:ext cx="3200400" cy="70408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1C0D3"/>
                </a:solidFill>
                <a:latin typeface="Aptos"/>
              </a:defRPr>
            </a:pPr>
            <a:r>
              <a:t>•  Condition-based monitoring / digital twins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389120"/>
            <a:ext cx="3520440" cy="132588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21B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389120"/>
            <a:ext cx="54864" cy="1325880"/>
          </a:xfrm>
          <a:prstGeom prst="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50799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Mahindra &amp; Mahindra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19472"/>
            <a:ext cx="3200400" cy="70408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1C0D3"/>
                </a:solidFill>
                <a:latin typeface="Aptos"/>
              </a:defRPr>
            </a:pPr>
            <a:r>
              <a:t>•  Vision inspection and predictive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389120"/>
            <a:ext cx="3520440" cy="132588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4389120"/>
            <a:ext cx="54864" cy="132588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4507992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Siemens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919472"/>
            <a:ext cx="3200400" cy="70408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1C0D3"/>
                </a:solidFill>
                <a:latin typeface="Aptos"/>
              </a:defRPr>
            </a:pPr>
            <a:r>
              <a:t>•  Industry 4.0 integration and digital twins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B1C0D3"/>
                </a:solidFill>
                <a:latin typeface="Aptos"/>
              </a:rPr>
              <a:t>Benchmark-specific performance claims should be verified before external publication.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06 •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Measure operational improvement and financial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Overall Equipment Effectiveness (OEE)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417320" cy="64008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04872"/>
            <a:ext cx="136245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395728"/>
            <a:ext cx="228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240280"/>
            <a:ext cx="1417320" cy="64008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404872"/>
            <a:ext cx="136245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395728"/>
            <a:ext cx="228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240280"/>
            <a:ext cx="1417320" cy="64008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2404872"/>
            <a:ext cx="136245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OEE = Availability × Performance ×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502920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Source targets: availability &gt;85% from a stated ~65–70% baseline.</a:t>
            </a:r>
          </a:p>
          <a:p>
            <a:pPr>
              <a:spcAft>
                <a:spcPts val="7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t>•  First-pass quality yield target: toward 98%+.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45920"/>
            <a:ext cx="5120640" cy="356616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645920"/>
            <a:ext cx="54864" cy="35661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6479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ROI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76272"/>
            <a:ext cx="4800600" cy="2944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Investment: sensors, edge hardware, software integration and staff training.</a:t>
            </a:r>
          </a:p>
          <a:p>
            <a:pPr>
              <a:spcAft>
                <a:spcPts val="5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Savings: reduced downtime, scrap/rework and emergency spare-parts costs.</a:t>
            </a:r>
          </a:p>
          <a:p>
            <a:pPr>
              <a:spcAft>
                <a:spcPts val="5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t>•  Source document's illustrative payback target: 14–22 months.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B1C0D3"/>
                </a:solidFill>
                <a:latin typeface="Aptos"/>
              </a:rPr>
              <a:t>These are illustrative source-document targets; actual ROI requires site-specific cost and performance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07 • IMPLEMENTATION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Deploy responsibly, prove value, then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YqdIhY8ItdygqgOfWtv9B7eak3CGu3M3qEctqoSd4gux1vv2uhhJsXadsmtPxc8TGcsdBGc30S2QDjbBLh7DP97vafqflVD7Cie3px5quq57mSM2YiNYvKyBV-jn2JwO_-1BqqcVDMQpvJNUULCaCPUCwMByKVkXjiugKOMQe4o.jpg"/>
          <p:cNvPicPr>
            <a:picLocks noChangeAspect="1"/>
          </p:cNvPicPr>
          <p:nvPr/>
        </p:nvPicPr>
        <p:blipFill>
          <a:blip r:embed="rId2"/>
          <a:srcRect l="4062" r="4062"/>
          <a:stretch>
            <a:fillRect/>
          </a:stretch>
        </p:blipFill>
        <p:spPr>
          <a:xfrm>
            <a:off x="7726679" y="1600200"/>
            <a:ext cx="3749039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600200"/>
            <a:ext cx="6492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Key implementation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640080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Legacy machines and poor data: retrofit sensors and improve data quality.</a:t>
            </a:r>
          </a:p>
          <a:p>
            <a:pPr>
              <a:spcAft>
                <a:spcPts val="6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Cybersecurity and AI errors: validate models, restrict access and retain human oversight.</a:t>
            </a:r>
          </a:p>
          <a:p>
            <a:pPr>
              <a:spcAft>
                <a:spcPts val="6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t>•  Employee resistance: start in advisory mode and train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FCDDC"/>
                </a:solidFill>
                <a:latin typeface="Aptos"/>
              </a:rPr>
              <a:t>PHASED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72000"/>
            <a:ext cx="1828800" cy="50292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81728"/>
            <a:ext cx="1737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1. Assess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72000"/>
            <a:ext cx="1828800" cy="50292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4681728"/>
            <a:ext cx="1737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2.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572000"/>
            <a:ext cx="1828800" cy="5029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81728"/>
            <a:ext cx="1737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3. Validate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4572000"/>
            <a:ext cx="1828800" cy="502920"/>
          </a:xfrm>
          <a:prstGeom prst="roundRect">
            <a:avLst/>
          </a:prstGeom>
          <a:solidFill>
            <a:srgbClr val="EE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681728"/>
            <a:ext cx="1737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4. Integrate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4572000"/>
            <a:ext cx="1828800" cy="50292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4681728"/>
            <a:ext cx="1737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5.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KEY TAKEAWAY: connect factory data to timely action—predict failures, detect defects and optimize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Manufacturing — Group 6</dc:title>
  <dc:subject>Condensed AI transformation case study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